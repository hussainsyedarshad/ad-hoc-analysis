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2" r:id="rId6"/>
    <p:sldId id="258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5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5D822-0D7A-9C14-B29E-DAFCA6B0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1E3B7-F2EA-5617-3EC6-E77B62F5D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D63CE-997F-5117-11E8-C150DFB0B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40047-CE51-D925-A3CA-44A30481C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7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4783-8D49-7037-66CE-F4D08E58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7785C-FDCF-435C-1C44-EEBF6441D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DC6C0-4503-EB25-E972-6C14D1173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5D7C-3660-E759-4952-3C825EB1F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76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1F26-F759-0424-9A21-2B1BD4BC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AFF34-52C9-3CAA-B68C-060E39806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DD554-0B17-1BAF-50A3-0F4B3F7B7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27AD3-1A33-99CA-1A6F-D550D2DE5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94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1573-0ED5-5877-6255-FB3A6F47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1ECAE-E876-D30F-B17E-B1D2254E3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1E861-F150-4E52-5C60-0C0F9D289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885D-CE87-4E76-015E-D666CFE9F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074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9625-E26B-1042-F75E-BCE0C4D6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20C32-C974-42E7-C36B-B3109A10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16BE9-C58B-A664-39A9-9E8EF9269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FADA-CB99-F3BD-AABD-C3CEAFCD0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56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C834-4A95-1475-B6CF-535F0189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DFF64-8D77-93FB-4B3D-BA9EB3A0C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FE0C8-D0C7-6B0F-FF6C-273E4F6C7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B0DBB-D111-91E7-8FDF-270CE68F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4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C8F8-6A1C-8AB4-B91B-4A574C55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91E3C-0910-BB66-CE80-710232A19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7DAB7-8D3C-888E-88B6-64248390A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868E2-E466-22CD-C95F-B5426C9FC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37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F91E-2221-2F2C-1824-8C2F1AFF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D470D-BF25-1D85-6C63-7C99AFF10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6281B-C7F0-10B7-B35F-E1A32C844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A65F1-2758-03F3-2BE8-A2EC59868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72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1C19-0690-6819-C7A7-F60C663E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A1EC2-2F7E-479E-582B-83D764C84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71EAD-C174-1EE5-37BD-D79CD1F4F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4C6DF-5FB4-36CF-A590-826522DB5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99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56FF-230D-9185-BE65-43DF9AB6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1FDDF-C702-44AF-840C-07C95C34A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65585-F7F3-BF87-ACF9-F0365B1DC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0605-9AAD-A438-838D-18C887D94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47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AACFA-FE2A-DAA4-4859-D6970829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01402-EDF2-637D-B51F-807C16797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7FA70-90E7-4020-C317-98A91AA9C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7E8B-ADD8-A855-AC41-CAC5AD39B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5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F2E7-1BE4-4DF4-EAAB-3CD34770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1D492-43B2-D5DE-C94A-648D5AD7D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9B137-528D-DA09-D91C-034BFC06F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5F45-0358-6B96-9BD1-405886811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515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36CD-B126-2452-6537-A4BC0F21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B3660-7EBF-04AE-AFC6-F86BAF7E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0D66B-7840-8D02-5569-14A813CB9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10F-852E-F807-66E6-1961E56A7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53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332F-AAAE-04F0-D3D8-EE9DB3AE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95EBC-FBD6-975F-C26B-BAEED70DE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3E504-8637-9887-818C-4538FAB96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13DC9-A8F4-2869-2801-B72EA393E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10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0342-ED04-5DA7-8B9A-B26D9332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00AC5-06B8-7F85-E88D-08DC38C7D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614C1-7BF6-3F4D-5719-8C6EF1C7C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7DAA-3039-30D0-E018-7C37BB239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42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FBE6-DBB3-0CB3-386C-DC88FE11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8CF80-F725-E0A4-65B2-E2E908E15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5C00E-86DA-1599-E82D-326CC1D21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C715-D578-A909-C4BD-FBE4D516A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9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8EA3-B846-4160-95E9-486302147031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8508273" cy="4968000"/>
          </a:xfrm>
        </p:spPr>
        <p:txBody>
          <a:bodyPr/>
          <a:lstStyle/>
          <a:p>
            <a:br>
              <a:rPr lang="en-US" sz="2800" dirty="0"/>
            </a:br>
            <a:r>
              <a:rPr lang="en-US" sz="2000" dirty="0">
                <a:latin typeface="Aptos Display" panose="020B0004020202020204" pitchFamily="34" charset="0"/>
              </a:rPr>
              <a:t>BY SYED ARSHAD HUSSAIN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374E7-FC41-1C20-2EFE-4FE0B215782E}"/>
              </a:ext>
            </a:extLst>
          </p:cNvPr>
          <p:cNvSpPr txBox="1"/>
          <p:nvPr/>
        </p:nvSpPr>
        <p:spPr>
          <a:xfrm>
            <a:off x="3803556" y="2713704"/>
            <a:ext cx="49707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Ad hoc Insights Analysis</a:t>
            </a:r>
          </a:p>
          <a:p>
            <a:r>
              <a:rPr lang="en-US" sz="3200" dirty="0">
                <a:latin typeface="+mj-lt"/>
              </a:rPr>
              <a:t>On consumer Goods</a:t>
            </a:r>
            <a:endParaRPr lang="en-IN" sz="32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4EB15-0834-FA29-622E-F0EC1F8EC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583" y="1331196"/>
            <a:ext cx="1301392" cy="130139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A24143-58C2-6AD3-5F31-52198F6F1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597" y="1331196"/>
            <a:ext cx="13144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346550"/>
          </a:xfrm>
        </p:spPr>
        <p:txBody>
          <a:bodyPr/>
          <a:lstStyle/>
          <a:p>
            <a:r>
              <a:rPr lang="en-US" sz="2800" dirty="0"/>
              <a:t>Objective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1606E-0B3D-E151-D6E8-FB4608C30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1FCD-5305-D1B4-B045-E971883A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E0DDB-D0AC-291C-306E-2AEA912A99E7}"/>
              </a:ext>
            </a:extLst>
          </p:cNvPr>
          <p:cNvSpPr txBox="1"/>
          <p:nvPr/>
        </p:nvSpPr>
        <p:spPr>
          <a:xfrm>
            <a:off x="545691" y="1232738"/>
            <a:ext cx="610583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Atli Q Hardware is one of the major computer hardware manufacturers in India, with a strong presence in other nations.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Nevertheless, the management did note that they do not have sufficient insights to make prompt, wise, and </a:t>
            </a:r>
            <a:r>
              <a:rPr lang="en-US" b="1" dirty="0" err="1"/>
              <a:t>darta</a:t>
            </a:r>
            <a:r>
              <a:rPr lang="en-US" b="1" dirty="0"/>
              <a:t>-informed judgments.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 to expand the data analytics team by adding junior data analysts.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assess </a:t>
            </a:r>
            <a:r>
              <a:rPr lang="en-US" b="1" dirty="0" err="1"/>
              <a:t>candiates</a:t>
            </a:r>
            <a:r>
              <a:rPr lang="en-US" b="1" dirty="0"/>
              <a:t>, data analytics director, Tony </a:t>
            </a:r>
            <a:r>
              <a:rPr lang="en-US" b="1" dirty="0" err="1"/>
              <a:t>sharma</a:t>
            </a:r>
            <a:r>
              <a:rPr lang="en-US" b="1" dirty="0"/>
              <a:t> plan to conduct a SQL challenge to evaluated both tech and soft skills.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company seeks insights for 10 ad hoc requests.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CDC768A-3F51-3E63-807C-9D6E16E8BBC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 r="649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2"/>
            <a:ext cx="10907016" cy="555360"/>
          </a:xfrm>
        </p:spPr>
        <p:txBody>
          <a:bodyPr/>
          <a:lstStyle/>
          <a:p>
            <a:pPr algn="ctr"/>
            <a:r>
              <a:rPr lang="en-US" dirty="0"/>
              <a:t>Company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60257" y="816078"/>
            <a:ext cx="4836991" cy="36704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Atli q Hardware is a computer hardware and accessory manufacturer.</a:t>
            </a:r>
          </a:p>
          <a:p>
            <a:pPr marL="0" indent="0">
              <a:buNone/>
            </a:pPr>
            <a:r>
              <a:rPr lang="en-US" dirty="0"/>
              <a:t>FISSCAL YEAR</a:t>
            </a:r>
          </a:p>
          <a:p>
            <a:pPr marL="0" indent="0">
              <a:buNone/>
            </a:pPr>
            <a:r>
              <a:rPr lang="en-US" dirty="0"/>
              <a:t>September 2019 – August 2020 (FY 2020)</a:t>
            </a:r>
          </a:p>
          <a:p>
            <a:pPr marL="0" indent="0">
              <a:buNone/>
            </a:pPr>
            <a:r>
              <a:rPr lang="en-US" dirty="0"/>
              <a:t>September 2020 – August 2021  (FY 2021)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4579C-DA6D-B905-B710-1E6243E8C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FFB8C-39D5-35BE-F4FC-79AA6B848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40" y="948731"/>
            <a:ext cx="6164519" cy="4960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497FA0-042A-D109-9305-D05D17D2517B}"/>
              </a:ext>
            </a:extLst>
          </p:cNvPr>
          <p:cNvSpPr txBox="1"/>
          <p:nvPr/>
        </p:nvSpPr>
        <p:spPr>
          <a:xfrm>
            <a:off x="7148052" y="3165987"/>
            <a:ext cx="483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Outer circle: Category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1AC22-4E2B-7F2D-1DA7-4C29760C6CF9}"/>
              </a:ext>
            </a:extLst>
          </p:cNvPr>
          <p:cNvSpPr txBox="1"/>
          <p:nvPr/>
        </p:nvSpPr>
        <p:spPr>
          <a:xfrm>
            <a:off x="7374194" y="4021394"/>
            <a:ext cx="24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Mid circle : segment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8EFD9-BDBB-F9CC-17DB-4FA6D5001304}"/>
              </a:ext>
            </a:extLst>
          </p:cNvPr>
          <p:cNvSpPr txBox="1"/>
          <p:nvPr/>
        </p:nvSpPr>
        <p:spPr>
          <a:xfrm>
            <a:off x="7520982" y="487680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Inner Circle: Division</a:t>
            </a:r>
            <a:endParaRPr lang="en-IN" dirty="0"/>
          </a:p>
        </p:txBody>
      </p:sp>
      <p:pic>
        <p:nvPicPr>
          <p:cNvPr id="12" name="Graphic 11" descr="Line arrow: Counter-clockwise curve with solid fill">
            <a:extLst>
              <a:ext uri="{FF2B5EF4-FFF2-40B4-BE49-F238E27FC236}">
                <a16:creationId xmlns:a16="http://schemas.microsoft.com/office/drawing/2014/main" id="{272D3667-C3CA-425A-05BF-1ED65528B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553654">
            <a:off x="6450340" y="2375636"/>
            <a:ext cx="1132037" cy="1132037"/>
          </a:xfrm>
          <a:prstGeom prst="rect">
            <a:avLst/>
          </a:prstGeom>
        </p:spPr>
      </p:pic>
      <p:pic>
        <p:nvPicPr>
          <p:cNvPr id="13" name="Graphic 12" descr="Line arrow: Counter-clockwise curve with solid fill">
            <a:extLst>
              <a:ext uri="{FF2B5EF4-FFF2-40B4-BE49-F238E27FC236}">
                <a16:creationId xmlns:a16="http://schemas.microsoft.com/office/drawing/2014/main" id="{8C49AF1D-3605-B681-C554-5207DA9FF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976251">
            <a:off x="5963601" y="2975280"/>
            <a:ext cx="1443416" cy="1565252"/>
          </a:xfrm>
          <a:prstGeom prst="rect">
            <a:avLst/>
          </a:prstGeom>
        </p:spPr>
      </p:pic>
      <p:pic>
        <p:nvPicPr>
          <p:cNvPr id="14" name="Graphic 13" descr="Line arrow: Counter-clockwise curve with solid fill">
            <a:extLst>
              <a:ext uri="{FF2B5EF4-FFF2-40B4-BE49-F238E27FC236}">
                <a16:creationId xmlns:a16="http://schemas.microsoft.com/office/drawing/2014/main" id="{477E4A8C-F6F2-4776-7551-2A8FF52ADF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445515">
            <a:off x="5078903" y="3025783"/>
            <a:ext cx="1443416" cy="369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30E5-56DD-28C3-C29A-290727C8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CF04-36AE-3EAE-9C9A-F9657F29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2"/>
            <a:ext cx="10907016" cy="555360"/>
          </a:xfrm>
        </p:spPr>
        <p:txBody>
          <a:bodyPr/>
          <a:lstStyle/>
          <a:p>
            <a:pPr algn="ctr"/>
            <a:r>
              <a:rPr lang="en-US" dirty="0"/>
              <a:t>Company’s Market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472E6-0373-57F7-C6C5-A8C2DA5E0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2C2B3-72A1-FA19-3E56-3266024DA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95E49F-8E4D-8E16-8D12-906518F6A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2" y="963480"/>
            <a:ext cx="3386598" cy="49310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5C7BE2-4EDC-3C74-085A-D5D856D11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" y="353962"/>
            <a:ext cx="1285875" cy="54863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B66C9F-D41F-EFEA-4E34-E4819760C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557" y="909322"/>
            <a:ext cx="3122456" cy="49427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427D3A-5E7F-6AC8-C1B1-8BBA470A8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163" y="631642"/>
            <a:ext cx="2806070" cy="493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7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CB69-4A11-5BEB-6857-3C92586B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990A-10FF-A2EE-BD14-9992646A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2"/>
            <a:ext cx="10907016" cy="555360"/>
          </a:xfrm>
        </p:spPr>
        <p:txBody>
          <a:bodyPr/>
          <a:lstStyle/>
          <a:p>
            <a:pPr algn="ctr"/>
            <a:r>
              <a:rPr lang="en-US" dirty="0"/>
              <a:t>Data, requests, and tools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B7DB7-553A-F943-4135-8D2EEB8A9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C8938-5286-6D49-DCFE-7E8F54740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3AB93-A9C6-D61E-6602-A14E38DC8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923" y="909322"/>
            <a:ext cx="6235457" cy="493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11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8CCB0-6BF3-7E00-E09E-F977A38E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853E-0AA2-A3B3-8A9D-A8A8F6CF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2"/>
            <a:ext cx="10907016" cy="555360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1.Provide the list of markets in which customer ‘Atli q Exclusive’ operates its business in the APAC region.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024A-D2DA-F9A4-8CD2-5C20B6663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B3B6D-4A2C-02FE-B549-AF541E7DD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5322B-1753-0C4B-A235-BF24867DA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2" y="985837"/>
            <a:ext cx="2371725" cy="4886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E5CC5-6D97-F45E-2D51-FCFD3CAF1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55" y="1034359"/>
            <a:ext cx="6847404" cy="483780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5E4E9B-8751-41D2-67EC-411AB025E078}"/>
              </a:ext>
            </a:extLst>
          </p:cNvPr>
          <p:cNvSpPr/>
          <p:nvPr/>
        </p:nvSpPr>
        <p:spPr>
          <a:xfrm>
            <a:off x="3701747" y="24580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13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A648-FD0E-90B9-6B9C-84FFA44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2E56-843F-E9D2-E583-C9ED5AD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2"/>
            <a:ext cx="10907016" cy="555360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2.What is the percentage of unique product increase in 2021 vs 2020. the final output contains these fields,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86EED-03C4-A5E5-6D48-D54C039A5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63F2C-B46E-4441-493A-FA8A2B580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6256AED-798F-84FE-D72E-9A419D6D53C1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443C5B-4766-1098-3304-FFCF8E6E6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922" y="1127636"/>
            <a:ext cx="4876800" cy="4663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D24BA5-0ABB-07B0-B0B1-331BB920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2" y="3250022"/>
            <a:ext cx="6305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4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72D0-9DBE-3AE8-DC37-A803E8E4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B2DD-F30A-1A5A-D719-4D83AF8E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53961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3.Provide a report with all unique product counts for each segment and sort them in descending order of product counts. The final output contains 2 fields.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D83AD-5CF6-8C6D-43FA-D2811693C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8435-3A3F-1040-9972-AF0DCF941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EE1DD42-FCD2-2023-5BDE-C148BCD8E9EA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19240-DDF0-38CD-A0D7-1BF04693F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3" y="1293557"/>
            <a:ext cx="3905250" cy="293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EA8F8F-AFB0-9619-BFD0-676FA63D3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903" y="1189702"/>
            <a:ext cx="4344149" cy="36969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DA8308-7216-2A2C-C4D2-05A09F1CCDB0}"/>
              </a:ext>
            </a:extLst>
          </p:cNvPr>
          <p:cNvSpPr txBox="1"/>
          <p:nvPr/>
        </p:nvSpPr>
        <p:spPr>
          <a:xfrm>
            <a:off x="471948" y="4227257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Segments: notebooks, accessories, and peripherals are showing significant manufacturing growth as compared to desktops, storage, and networking.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Notebooks, accessories, and peripherals constitute 83% of the total manufactured product.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35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1DC1-79B9-C52E-1C07-83648E73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B7DB9-03F0-1FE7-86C8-BCEC9E828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B8FCA-2B7C-F760-8CE6-6C8F5F218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41B44-AD24-63BE-1A73-F822EF3D6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32" y="2292452"/>
            <a:ext cx="4019550" cy="3295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665599-2A14-AF98-A7A9-7A53705E2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142" y="373627"/>
            <a:ext cx="3920920" cy="548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9585CB-E413-76C9-C8D7-0C1832707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38" y="463652"/>
            <a:ext cx="5067300" cy="182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E57597-CE3B-7C76-C579-A91D49984A8F}"/>
              </a:ext>
            </a:extLst>
          </p:cNvPr>
          <p:cNvSpPr txBox="1"/>
          <p:nvPr/>
        </p:nvSpPr>
        <p:spPr>
          <a:xfrm>
            <a:off x="4693982" y="2782529"/>
            <a:ext cx="249459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Package deals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vouchers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discounts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Cash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Gift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memberships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57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2636-F3D3-2385-D944-19BB2F9D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00DE-1831-B563-7416-79C31985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83457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4.Follow-up : which segment had the most increase in unique products in 2021 vs 2020, the final output contains these fields.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A5D6C-8D89-74F6-57C6-4A549072F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95123-BC44-1A5E-AA3C-5ED44B6C4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06A86CE-16F6-F335-07DB-B1586E45C080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A9B98-4E76-0BDA-9B2C-0CE213BDF4C0}"/>
              </a:ext>
            </a:extLst>
          </p:cNvPr>
          <p:cNvSpPr txBox="1"/>
          <p:nvPr/>
        </p:nvSpPr>
        <p:spPr>
          <a:xfrm>
            <a:off x="471948" y="4227257"/>
            <a:ext cx="6105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Accessories had the largest increase in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and networking are experiencing slower production growth than other segments.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A7485-F842-F4E1-A933-BB88DFC9A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087" y="1219199"/>
            <a:ext cx="4966280" cy="4572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3DA654-53CE-936D-B37A-02595834EA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430704"/>
            <a:ext cx="5612682" cy="180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7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9DE2-9192-4D15-2470-F2C6900E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DFEF-0642-94EC-A5A4-D749C769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83457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5. Get the product that have the highest and lowest manufacturing costs. The final output should contain these fields,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9B375-1DF8-6617-CC2F-4F408AA6E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2FC9A-515A-8ECE-BCD3-EFD72EF56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72C5304-D667-079C-BD94-53B456CBDDE8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FA767-C4A5-80BD-9748-653F5B20500B}"/>
              </a:ext>
            </a:extLst>
          </p:cNvPr>
          <p:cNvSpPr txBox="1"/>
          <p:nvPr/>
        </p:nvSpPr>
        <p:spPr>
          <a:xfrm>
            <a:off x="471948" y="4227257"/>
            <a:ext cx="6105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Mouse: AQ Master wired x1 </a:t>
            </a:r>
            <a:r>
              <a:rPr lang="en-US" dirty="0" err="1"/>
              <a:t>Ms</a:t>
            </a:r>
            <a:r>
              <a:rPr lang="en-US" dirty="0"/>
              <a:t> (Variant: Standard 1) has the lowest manufacturing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Desktop: AQ Home Allin1  Gen2 (Variant: Plus 3) has the highest manufacturing cost.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DC3088-66C6-E3BD-21F9-F4B1FB8E0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80" y="1281113"/>
            <a:ext cx="5176197" cy="4146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C856D-67FB-ACC2-FC71-588335CBB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23" y="1440877"/>
            <a:ext cx="5815293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76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A166-8599-4F04-D075-8C8923BF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8E4D-C921-B448-DC15-3B4B8037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383457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6. Generate a report which contains the top 5 customer who received an average high pre-invoice-discount-pct for the fiscal year2021 and in the Indian market. The final output contains these fields ,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CD696-2844-9330-BFAB-151478C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8CD83-D5C1-1C98-BD6E-AA30865A9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2708949-3C6A-012D-F746-3DDEC3FD1220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64CEC5-E8CD-553D-E222-442E8C8F0A46}"/>
              </a:ext>
            </a:extLst>
          </p:cNvPr>
          <p:cNvSpPr txBox="1"/>
          <p:nvPr/>
        </p:nvSpPr>
        <p:spPr>
          <a:xfrm>
            <a:off x="471948" y="4227257"/>
            <a:ext cx="6105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largest average pre-invoice discount was given to Flipkart.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least average pre-invoice discount was given to Amazon.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2A0B0-2464-803E-E082-9F89EDC318A4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5F363-7712-DAD7-DA96-AB2F93968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019" y="1450533"/>
            <a:ext cx="4015402" cy="42978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412EF1-9193-4A9A-30C2-5BDCE4A6A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733641"/>
            <a:ext cx="5350284" cy="179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B11C-4515-A4BD-24A7-B449F904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1F8A-3DE1-E04A-27EE-5D6C1721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28" y="594673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7. Get the complete report of the gross sales amount for the customer ‘Atli q exclusive’ for each month, this analysis helps to get an idea of low and high-performing months and take strategic decisions. the final report contains these columns: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5AA6A-001F-A836-E908-61D907A2A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791F5-69A5-CC53-94A0-36E939D58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B1CC20C-CAA6-E704-340E-4D42F190E8D4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36CFA-27FA-6F65-D283-B4D4F1DA4DFD}"/>
              </a:ext>
            </a:extLst>
          </p:cNvPr>
          <p:cNvSpPr txBox="1"/>
          <p:nvPr/>
        </p:nvSpPr>
        <p:spPr>
          <a:xfrm>
            <a:off x="471948" y="4227257"/>
            <a:ext cx="6105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lowest Gross sales total for both fiscal years is in March (2020).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Gross sales total for both fiscal years is in November (2020). 73.8% of the total Gross sales figure is in FY 2021.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AF3C1-5856-B693-3E1B-4F142E110235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F69BD-FBF3-68E2-9E85-92A1CF89FF64}"/>
              </a:ext>
            </a:extLst>
          </p:cNvPr>
          <p:cNvSpPr txBox="1"/>
          <p:nvPr/>
        </p:nvSpPr>
        <p:spPr>
          <a:xfrm>
            <a:off x="835742" y="2379406"/>
            <a:ext cx="159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FY 2020 </a:t>
            </a:r>
          </a:p>
          <a:p>
            <a:r>
              <a:rPr lang="en-IN" b="1" dirty="0"/>
              <a:t>79.5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FF85C-BA40-AA0D-27DC-032D167495F4}"/>
              </a:ext>
            </a:extLst>
          </p:cNvPr>
          <p:cNvSpPr txBox="1"/>
          <p:nvPr/>
        </p:nvSpPr>
        <p:spPr>
          <a:xfrm>
            <a:off x="914400" y="3283974"/>
            <a:ext cx="159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FY2021 </a:t>
            </a:r>
          </a:p>
          <a:p>
            <a:r>
              <a:rPr lang="en-IN" b="1" dirty="0"/>
              <a:t>224.4 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7C60E6-AAE6-A643-79DA-D46FBDB91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058" y="1284071"/>
            <a:ext cx="3198079" cy="46461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C3E6A5-29CF-5294-3CBE-EF0B0C98AF81}"/>
              </a:ext>
            </a:extLst>
          </p:cNvPr>
          <p:cNvCxnSpPr>
            <a:cxnSpLocks/>
          </p:cNvCxnSpPr>
          <p:nvPr/>
        </p:nvCxnSpPr>
        <p:spPr>
          <a:xfrm>
            <a:off x="8062452" y="3726426"/>
            <a:ext cx="3608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73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1470-1258-AF49-77A4-1D55179D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77660-05C4-FACD-1AB7-5028C8CEF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BFFD7-14CB-C18E-8CF0-A216834AF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49ACA-A2DD-8779-4C56-AC867F70ED77}"/>
              </a:ext>
            </a:extLst>
          </p:cNvPr>
          <p:cNvSpPr txBox="1"/>
          <p:nvPr/>
        </p:nvSpPr>
        <p:spPr>
          <a:xfrm>
            <a:off x="471948" y="4227257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Covid- 19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chip shortage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AA131-3DEF-25C7-870F-3E2B2955C153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Reasons: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300297-C57F-44B9-0115-55393580C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49" y="280527"/>
            <a:ext cx="11349101" cy="36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21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0F4E-8C48-7774-6A11-F54F83AC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1CEF-1E0A-22FA-A559-6B26DDB0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28" y="594673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8.In which quarter of 2020, got the maximum total-sold-quantity, the final output contains these fields sorted by the total-sold-quantity,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360AE-B8D6-39BF-DF73-D1FDEFB0B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006E0-2702-9AE3-825E-B60B70CB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CC83414-35D1-40F4-B271-3DD435CC5A00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B6D66-D9A3-3D26-9896-9B50A71F550D}"/>
              </a:ext>
            </a:extLst>
          </p:cNvPr>
          <p:cNvSpPr txBox="1"/>
          <p:nvPr/>
        </p:nvSpPr>
        <p:spPr>
          <a:xfrm>
            <a:off x="471948" y="4227257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Quarter 1 of FY2020 saw the most units sold overall, while Quarter 3 had the fewest.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and lowest overall sold quantity is in December and March.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Quarter 1 accounts for approximately 34% of the total sold quantity for FY2020.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CF235-15FB-C860-D195-D9EB8BBE62A3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6E3F22-78AC-6DF8-83F7-C4AE5460F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67" y="1695270"/>
            <a:ext cx="3857625" cy="2019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F12265-CDEB-A243-2E6A-A8D410EE7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810" y="1397678"/>
            <a:ext cx="3857626" cy="43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16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6DF6-045C-4A4E-D47E-DAFFA9D8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46A46-37E6-3069-202D-9DBAC1EB3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225F1-CD51-23E8-465E-7965DA86B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F6FE1-5385-FDBB-A32A-2D4F7FD8A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60" y="356950"/>
            <a:ext cx="10123539" cy="547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5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4915-F0BE-17DF-CDB0-38FA6C5F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F3A3-8C1C-77FF-07A0-4AD82326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28" y="594673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9. Which channel helped to bring more gross sales in the fiscal year 2021 and the percentage of contribution. The final output contains these fields.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9D0DC-FD9C-CF6C-022F-2301298D2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68086-2881-29B1-D8C4-4544182A9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DD023A1-FBBD-29C0-50F1-2DC6CEF909C6}"/>
              </a:ext>
            </a:extLst>
          </p:cNvPr>
          <p:cNvSpPr/>
          <p:nvPr/>
        </p:nvSpPr>
        <p:spPr>
          <a:xfrm>
            <a:off x="5605654" y="2556387"/>
            <a:ext cx="978408" cy="555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1CC7F-B45F-41C7-9008-EC0CE25D59ED}"/>
              </a:ext>
            </a:extLst>
          </p:cNvPr>
          <p:cNvSpPr txBox="1"/>
          <p:nvPr/>
        </p:nvSpPr>
        <p:spPr>
          <a:xfrm>
            <a:off x="471948" y="4227257"/>
            <a:ext cx="6105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Channel: "Retailer" helped bring maximum sales to the company with 73.22% as the contribution percentage.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Channel: "Distributor" makes the least contribution at a percentage of 11.31%.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C3C74-5C05-D029-8CA9-752A2B70E3D9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BB2A-49B7-2578-CDDD-335A381EC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414" y="1315832"/>
            <a:ext cx="4997149" cy="4504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1FEDB0-5EB2-21CA-0CD4-3D1A13635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1714485"/>
            <a:ext cx="5797857" cy="17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45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88BF-F573-71B2-F09A-758342A1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526D-71BC-2770-B122-B57E258C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28" y="594673"/>
            <a:ext cx="10907016" cy="835741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10. Get the top 3 products in each division that have a high total-sold-quantity in the fiscal-year 2021 , the final output contains these fields.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84568-EA28-443E-9582-77EDF5FFE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08133-2B3B-A8C1-6C69-F16758650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FA05C-26D5-DB69-F331-4A29567FAA84}"/>
              </a:ext>
            </a:extLst>
          </p:cNvPr>
          <p:cNvSpPr txBox="1"/>
          <p:nvPr/>
        </p:nvSpPr>
        <p:spPr>
          <a:xfrm>
            <a:off x="471948" y="4227257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division has a product with different variants that appears twice in the top three products by division list.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973C9-83DF-CDB0-06AC-09A6A316E2B4}"/>
              </a:ext>
            </a:extLst>
          </p:cNvPr>
          <p:cNvSpPr txBox="1"/>
          <p:nvPr/>
        </p:nvSpPr>
        <p:spPr>
          <a:xfrm>
            <a:off x="353961" y="3962401"/>
            <a:ext cx="14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450C9C-3D75-F38B-24AA-59FB4D998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627" y="1430414"/>
            <a:ext cx="8402746" cy="2746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0379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7B6A-3419-F05F-923B-356437F0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68AE-F658-C940-947F-DF44BEA2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AB56F-291A-D349-8260-37A436BFD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09661-C01E-04B7-D070-850E3964C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13" y="309408"/>
            <a:ext cx="4372197" cy="3260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52C862-2930-A7DA-AA00-F66FECA8A5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68" y="348891"/>
            <a:ext cx="4242619" cy="3181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552E0F-4297-468B-C838-BEAA5537B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071" y="2964701"/>
            <a:ext cx="4149213" cy="28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04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/>
          <a:lstStyle/>
          <a:p>
            <a:r>
              <a:rPr lang="en-US" sz="2000" b="1" dirty="0"/>
              <a:t>Tools  used – MYSQL, </a:t>
            </a:r>
          </a:p>
          <a:p>
            <a:r>
              <a:rPr lang="en-US" sz="2000" b="1" dirty="0"/>
              <a:t>Power bi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8051-4856-FADE-1394-1BF8D4AFC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FCB1BC7D-EE8F-4610-B748-33D1F9065B77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093E94-C176-4FB3-93BB-02AEE1FEC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5A16D6-EDBE-419D-AF8F-74F00E41AF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BF1A99-35F0-4B73-B737-B4DCDCD8CA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Fluorescent presentation</Template>
  <TotalTime>669</TotalTime>
  <Words>806</Words>
  <Application>Microsoft Office PowerPoint</Application>
  <PresentationFormat>Widescreen</PresentationFormat>
  <Paragraphs>130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Century Gothic</vt:lpstr>
      <vt:lpstr>Jumble</vt:lpstr>
      <vt:lpstr>Custom</vt:lpstr>
      <vt:lpstr> BY SYED ARSHAD HUSSAIN</vt:lpstr>
      <vt:lpstr>Objective </vt:lpstr>
      <vt:lpstr>Company Details</vt:lpstr>
      <vt:lpstr>Company’s Market</vt:lpstr>
      <vt:lpstr>Data, requests, and tools</vt:lpstr>
      <vt:lpstr>1.Provide the list of markets in which customer ‘Atli q Exclusive’ operates its business in the APAC region.</vt:lpstr>
      <vt:lpstr>2.What is the percentage of unique product increase in 2021 vs 2020. the final output contains these fields,</vt:lpstr>
      <vt:lpstr>3.Provide a report with all unique product counts for each segment and sort them in descending order of product counts. The final output contains 2 fields.</vt:lpstr>
      <vt:lpstr>PowerPoint Presentation</vt:lpstr>
      <vt:lpstr>4.Follow-up : which segment had the most increase in unique products in 2021 vs 2020, the final output contains these fields.</vt:lpstr>
      <vt:lpstr>5. Get the product that have the highest and lowest manufacturing costs. The final output should contain these fields,</vt:lpstr>
      <vt:lpstr>6. Generate a report which contains the top 5 customer who received an average high pre-invoice-discount-pct for the fiscal year2021 and in the Indian market. The final output contains these fields ,</vt:lpstr>
      <vt:lpstr>7. Get the complete report of the gross sales amount for the customer ‘Atli q exclusive’ for each month, this analysis helps to get an idea of low and high-performing months and take strategic decisions. the final report contains these columns:</vt:lpstr>
      <vt:lpstr>PowerPoint Presentation</vt:lpstr>
      <vt:lpstr>8.In which quarter of 2020, got the maximum total-sold-quantity, the final output contains these fields sorted by the total-sold-quantity, </vt:lpstr>
      <vt:lpstr>PowerPoint Presentation</vt:lpstr>
      <vt:lpstr>9. Which channel helped to bring more gross sales in the fiscal year 2021 and the percentage of contribution. The final output contains these fields. </vt:lpstr>
      <vt:lpstr>10. Get the top 3 products in each division that have a high total-sold-quantity in the fiscal-year 2021 , the final output contains these fields.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arshad Hussain</dc:creator>
  <cp:lastModifiedBy>Syed arshad Hussain</cp:lastModifiedBy>
  <cp:revision>2</cp:revision>
  <dcterms:created xsi:type="dcterms:W3CDTF">2025-09-25T08:30:30Z</dcterms:created>
  <dcterms:modified xsi:type="dcterms:W3CDTF">2026-04-15T13:25:05Z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